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652881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652881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>
              <a:gd name="adj" fmla="val 80000"/>
            </a:avLst>
          </a:prstGeom>
          <a:solidFill>
            <a:srgbClr val="B6935B"/>
          </a:solidFill>
          <a:ln w="12700">
            <a:solidFill>
              <a:srgbClr val="B6935B">
                <a:alpha val="0"/>
              </a:srgbClr>
            </a:solidFill>
            <a:prstDash val="solid"/>
          </a:ln>
        </p:spPr>
      </p:sp>
      <p:pic>
        <p:nvPicPr>
          <p:cNvPr id="3" name="Image 0" descr="/Users/nico/Desktop/proyectos/perfumeria-evaluacion/frontend/web-app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75488"/>
            <a:ext cx="713232" cy="7132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81328" y="566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spc="230" kern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PERFUMERIA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508760" y="8778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210" kern="0" dirty="0">
                <a:solidFill>
                  <a:srgbClr val="C9C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ARTE EN FRAGANCIAS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713232" y="18288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PARCIAL N°4  ·  DSY1107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94944" y="2212848"/>
            <a:ext cx="5669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8F5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compra.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8F5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procesos.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8F5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Cero bloqueos.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4348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AD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asíncrona con RabbitMQ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892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40" kern="0" dirty="0">
                <a:solidFill>
                  <a:srgbClr val="AFA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cloud · seguridad · resiliencia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8064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 →  API GATEWAY  →  EVENTOS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473952" y="1115568"/>
            <a:ext cx="5074920" cy="4443984"/>
          </a:xfrm>
          <a:prstGeom prst="roundRect">
            <a:avLst>
              <a:gd name="adj" fmla="val 1646"/>
            </a:avLst>
          </a:prstGeom>
          <a:solidFill>
            <a:srgbClr val="2A2722"/>
          </a:solidFill>
          <a:ln w="10160">
            <a:solidFill>
              <a:srgbClr val="514A3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0" y="13533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DAD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EXPERIENCIA DE COMPRA</a:t>
            </a:r>
            <a:endParaRPr lang="en-US" sz="850" dirty="0"/>
          </a:p>
        </p:txBody>
      </p:sp>
      <p:pic>
        <p:nvPicPr>
          <p:cNvPr id="13" name="Image 1" descr="/Users/nico/Desktop/proyectos/perfumeria-evaluacion/docs/rabbitmq/assets/catalogo-sin-hea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214" y="1737360"/>
            <a:ext cx="4067251" cy="2542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022592" y="4572000"/>
            <a:ext cx="4041648" cy="0"/>
          </a:xfrm>
          <a:prstGeom prst="line">
            <a:avLst/>
          </a:prstGeom>
          <a:noFill/>
          <a:ln w="15240">
            <a:solidFill>
              <a:srgbClr val="6D604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76288" y="4873752"/>
            <a:ext cx="1344168" cy="438912"/>
          </a:xfrm>
          <a:prstGeom prst="roundRect">
            <a:avLst>
              <a:gd name="adj" fmla="val 16667"/>
            </a:avLst>
          </a:prstGeom>
          <a:solidFill>
            <a:srgbClr val="302C26"/>
          </a:solidFill>
          <a:ln w="10160">
            <a:solidFill>
              <a:srgbClr val="60533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86016" y="49651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7306056" y="49286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8F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Aviso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8430768" y="4873752"/>
            <a:ext cx="1344168" cy="438912"/>
          </a:xfrm>
          <a:prstGeom prst="roundRect">
            <a:avLst>
              <a:gd name="adj" fmla="val 16667"/>
            </a:avLst>
          </a:prstGeom>
          <a:solidFill>
            <a:srgbClr val="302C26"/>
          </a:solidFill>
          <a:ln w="10160">
            <a:solidFill>
              <a:srgbClr val="60533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540496" y="49651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6"/>
          <p:cNvSpPr txBox="1"/>
          <p:nvPr/>
        </p:nvSpPr>
        <p:spPr>
          <a:xfrm>
            <a:off x="8860536" y="49286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8F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9985248" y="4873752"/>
            <a:ext cx="1344168" cy="438912"/>
          </a:xfrm>
          <a:prstGeom prst="roundRect">
            <a:avLst>
              <a:gd name="adj" fmla="val 16667"/>
            </a:avLst>
          </a:prstGeom>
          <a:solidFill>
            <a:srgbClr val="302C26"/>
          </a:solidFill>
          <a:ln w="10160">
            <a:solidFill>
              <a:srgbClr val="60533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0094976" y="49651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10415016" y="49286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8F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Envío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621792" y="23774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DAD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PERFUMERIA  /  CLOUD NATIVE</a:t>
            </a:r>
            <a:endParaRPr lang="en-US" sz="800" dirty="0"/>
          </a:p>
        </p:txBody>
      </p:sp>
      <p:sp>
        <p:nvSpPr>
          <p:cNvPr id="25" name="Text 21"/>
          <p:cNvSpPr txBox="1"/>
          <p:nvPr/>
        </p:nvSpPr>
        <p:spPr>
          <a:xfrm>
            <a:off x="7315200" y="237744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DAD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APERTURA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621792" y="6419088"/>
            <a:ext cx="10945368" cy="0"/>
          </a:xfrm>
          <a:prstGeom prst="line">
            <a:avLst/>
          </a:prstGeom>
          <a:noFill/>
          <a:ln w="8890">
            <a:solidFill>
              <a:srgbClr val="514A3E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21792" y="65105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DAD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DSY1107  ·  EVALUACIÓN PARCIAL N°4</a:t>
            </a:r>
            <a:endParaRPr lang="en-US" sz="750" dirty="0"/>
          </a:p>
        </p:txBody>
      </p:sp>
      <p:sp>
        <p:nvSpPr>
          <p:cNvPr id="28" name="Text 24"/>
          <p:cNvSpPr txBox="1"/>
          <p:nvPr/>
        </p:nvSpPr>
        <p:spPr>
          <a:xfrm>
            <a:off x="9601200" y="65013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70" kern="0" dirty="0">
                <a:solidFill>
                  <a:srgbClr val="DAD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00:15  ·  01 / 12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23774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PERFUMERIA  /  CLOUD NATIVE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37744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1792" y="6419088"/>
            <a:ext cx="10945368" cy="0"/>
          </a:xfrm>
          <a:prstGeom prst="line">
            <a:avLst/>
          </a:prstGeom>
          <a:noFill/>
          <a:ln w="8890">
            <a:solidFill>
              <a:srgbClr val="E4DE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65105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DSY1107  ·  EVALUACIÓN PARCIAL N°4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9601200" y="65013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7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00:55  ·  02 / 12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6217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DISEÑO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896112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18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ruta clara: del navegador al trabajo asíncrono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14813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no espera a que terminen las tareas secundarias del pedido.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2121408"/>
            <a:ext cx="1627632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0160">
            <a:solidFill>
              <a:srgbClr val="E4DE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240280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10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</a:t>
            </a:r>
            <a:endParaRPr lang="en-US" sz="760" dirty="0"/>
          </a:p>
        </p:txBody>
      </p:sp>
      <p:sp>
        <p:nvSpPr>
          <p:cNvPr id="12" name="Text 10"/>
          <p:cNvSpPr txBox="1"/>
          <p:nvPr/>
        </p:nvSpPr>
        <p:spPr>
          <a:xfrm>
            <a:off x="813816" y="2478024"/>
            <a:ext cx="13167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MSAL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13816" y="2834640"/>
            <a:ext cx="13167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OIDC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 y checkout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688336" y="2121408"/>
            <a:ext cx="1755648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0160">
            <a:solidFill>
              <a:srgbClr val="E4DE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43784" y="224028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100" kern="0" dirty="0">
                <a:solidFill>
                  <a:srgbClr val="4C68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PERÍMETRO</a:t>
            </a:r>
            <a:endParaRPr lang="en-US" sz="760" dirty="0"/>
          </a:p>
        </p:txBody>
      </p:sp>
      <p:sp>
        <p:nvSpPr>
          <p:cNvPr id="16" name="Text 14"/>
          <p:cNvSpPr txBox="1"/>
          <p:nvPr/>
        </p:nvSpPr>
        <p:spPr>
          <a:xfrm>
            <a:off x="2843784" y="2478024"/>
            <a:ext cx="1444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Gateway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843784" y="2834640"/>
            <a:ext cx="1444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Rutas + JWT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Scopes por recurso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2121408"/>
            <a:ext cx="14173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0160">
            <a:solidFill>
              <a:srgbClr val="E4DE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01768" y="2240280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100" kern="0" dirty="0">
                <a:solidFill>
                  <a:srgbClr val="4C68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FACHADA</a:t>
            </a:r>
            <a:endParaRPr lang="en-US" sz="760" dirty="0"/>
          </a:p>
        </p:txBody>
      </p:sp>
      <p:sp>
        <p:nvSpPr>
          <p:cNvPr id="20" name="Text 18"/>
          <p:cNvSpPr txBox="1"/>
          <p:nvPr/>
        </p:nvSpPr>
        <p:spPr>
          <a:xfrm>
            <a:off x="5001768" y="2478024"/>
            <a:ext cx="1106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BFF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001768" y="2834640"/>
            <a:ext cx="11064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Proxy seguro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Puerto 8080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656832" y="2121408"/>
            <a:ext cx="228600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0160">
            <a:solidFill>
              <a:srgbClr val="E4DED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12280" y="2240280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100" kern="0" dirty="0">
                <a:solidFill>
                  <a:srgbClr val="557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DOMINIO</a:t>
            </a:r>
            <a:endParaRPr lang="en-US" sz="76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2478024"/>
            <a:ext cx="1975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Microservicios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2834640"/>
            <a:ext cx="19751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 · pedidos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envíos · Rabbit Admin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9326880" y="2121408"/>
            <a:ext cx="219456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0160">
            <a:solidFill>
              <a:srgbClr val="E4DE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82328" y="2240280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10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</a:t>
            </a:r>
            <a:endParaRPr lang="en-US" sz="760" dirty="0"/>
          </a:p>
        </p:txBody>
      </p:sp>
      <p:sp>
        <p:nvSpPr>
          <p:cNvPr id="28" name="Text 26"/>
          <p:cNvSpPr txBox="1"/>
          <p:nvPr/>
        </p:nvSpPr>
        <p:spPr>
          <a:xfrm>
            <a:off x="9482328" y="2478024"/>
            <a:ext cx="18836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RabbitMQ × 2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482328" y="2834640"/>
            <a:ext cx="1883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+ direct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ACK · DLQ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2350008" y="2779776"/>
            <a:ext cx="283464" cy="0"/>
          </a:xfrm>
          <a:prstGeom prst="line">
            <a:avLst/>
          </a:prstGeom>
          <a:noFill/>
          <a:ln w="17780">
            <a:solidFill>
              <a:srgbClr val="B6935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07992" y="2779776"/>
            <a:ext cx="283464" cy="0"/>
          </a:xfrm>
          <a:prstGeom prst="line">
            <a:avLst/>
          </a:prstGeom>
          <a:noFill/>
          <a:ln w="17780">
            <a:solidFill>
              <a:srgbClr val="B6935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327648" y="2779776"/>
            <a:ext cx="274320" cy="0"/>
          </a:xfrm>
          <a:prstGeom prst="line">
            <a:avLst/>
          </a:prstGeom>
          <a:noFill/>
          <a:ln w="17780">
            <a:solidFill>
              <a:srgbClr val="B6935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006840" y="2779776"/>
            <a:ext cx="265176" cy="0"/>
          </a:xfrm>
          <a:prstGeom prst="line">
            <a:avLst/>
          </a:prstGeom>
          <a:noFill/>
          <a:ln w="17780">
            <a:solidFill>
              <a:srgbClr val="B6935B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694944" y="38770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INTERNO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58368" y="4279392"/>
            <a:ext cx="35204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E4DED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1248" y="444398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316736" y="4443984"/>
            <a:ext cx="26791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application.yml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316736" y="4809744"/>
            <a:ext cx="2660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Centraliza nombres de colas, exchanges, routing keys y reintentos.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34256" y="4279392"/>
            <a:ext cx="35204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E4DED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17136" y="444398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992624" y="4443984"/>
            <a:ext cx="26791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@Configuration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992624" y="4809744"/>
            <a:ext cx="2660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 explícitamente Queue, Exchange y Binding por caso de uso.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010144" y="4279392"/>
            <a:ext cx="3511296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E4DED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193024" y="444398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8668512" y="4443984"/>
            <a:ext cx="26700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Dominios desacoplados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8668512" y="4809744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publican; listeners por dominio procesan los eventos.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58952" y="5769864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E9DFC9"/>
          </a:solidFill>
          <a:ln w="12700">
            <a:solidFill>
              <a:srgbClr val="E9DFC9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59536" y="5779008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2450592" y="57698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2834640" y="5769864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9DFC9"/>
          </a:solidFill>
          <a:ln w="12700">
            <a:solidFill>
              <a:srgbClr val="E9DFC9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935224" y="577900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BEANS RABBITMQ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4599432" y="57698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53" name="Shape 51"/>
          <p:cNvSpPr/>
          <p:nvPr/>
        </p:nvSpPr>
        <p:spPr>
          <a:xfrm>
            <a:off x="5010912" y="5769864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E9DFC9"/>
          </a:solidFill>
          <a:ln w="12700">
            <a:solidFill>
              <a:srgbClr val="E9DFC9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111496" y="57790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 DE DOMINIO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652881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23774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PERFUMERIA  /  CLOUD NATIVE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37744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 Y ACCESO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1792" y="6419088"/>
            <a:ext cx="10945368" cy="0"/>
          </a:xfrm>
          <a:prstGeom prst="line">
            <a:avLst/>
          </a:prstGeom>
          <a:noFill/>
          <a:ln w="8890">
            <a:solidFill>
              <a:srgbClr val="E4DE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65105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DSY1107  ·  EVALUACIÓN PARCIAL N°4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9601200" y="65013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7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01:35  ·  03 / 12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6217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SEGURIDAD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896112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18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identidad se valida antes de entrar al backend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14813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Gateway enruta al BFF; Entra ID emite los tokens y los scopes delimitan el acceso.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2029968"/>
            <a:ext cx="5623560" cy="3438144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0795">
            <a:solidFill>
              <a:srgbClr val="E4DED2"/>
            </a:solidFill>
            <a:prstDash val="solid"/>
          </a:ln>
        </p:spPr>
      </p:sp>
      <p:pic>
        <p:nvPicPr>
          <p:cNvPr id="11" name="Image 0" descr="/Users/nico/Desktop/proyectos/perfumeria-evaluacion/docs/evidence/rabbitmq/13-api-gateway-jw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284" y="2093976"/>
            <a:ext cx="5335729" cy="331012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86384" y="553212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55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COMPLEMENTARIA  ·  RUTA PROTEGIDA SIN TOKEN → 401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629400" y="202996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9DFC9"/>
          </a:solidFill>
          <a:ln w="12700">
            <a:solidFill>
              <a:srgbClr val="E9DFC9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29984" y="2039112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HTTP API  ·  us-east-1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6647688" y="2496312"/>
            <a:ext cx="4389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918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zu1dfduu53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6656832" y="30906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DFC9"/>
          </a:solidFill>
          <a:ln w="12700">
            <a:solidFill>
              <a:srgbClr val="E9DFC9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84264" y="312724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7205472" y="308152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Entra ID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205472" y="335584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y usuarios registrados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6656832" y="37581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DFC9"/>
          </a:solidFill>
          <a:ln w="12700">
            <a:solidFill>
              <a:srgbClr val="E9DFC9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84264" y="37947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7205472" y="374904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authorizer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205472" y="402336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Emisor, audiencia y firma verificados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6656832" y="44256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5EEE4"/>
          </a:solidFill>
          <a:ln w="12700">
            <a:solidFill>
              <a:srgbClr val="E5EEE4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84264" y="446227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7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7205472" y="441655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protegida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205472" y="469087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Admin.Read → BFF → Rabbit Admin</a:t>
            </a:r>
            <a:endParaRPr lang="en-US" sz="930" dirty="0"/>
          </a:p>
        </p:txBody>
      </p:sp>
      <p:sp>
        <p:nvSpPr>
          <p:cNvPr id="28" name="Shape 25"/>
          <p:cNvSpPr/>
          <p:nvPr/>
        </p:nvSpPr>
        <p:spPr>
          <a:xfrm>
            <a:off x="6638544" y="5303520"/>
            <a:ext cx="4709160" cy="658368"/>
          </a:xfrm>
          <a:prstGeom prst="roundRect">
            <a:avLst>
              <a:gd name="adj" fmla="val 11111"/>
            </a:avLst>
          </a:prstGeom>
          <a:solidFill>
            <a:srgbClr val="201E1A"/>
          </a:solidFill>
          <a:ln w="12700">
            <a:solidFill>
              <a:srgbClr val="201E1A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39712" y="543153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EN VIVO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6839712" y="5641848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F8F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Gateway: integración, ruta y authorizer azure-ad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652881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23774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PERFUMERIA  /  CLOUD NATIVE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37744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AUTENTICADA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1792" y="6419088"/>
            <a:ext cx="10945368" cy="0"/>
          </a:xfrm>
          <a:prstGeom prst="line">
            <a:avLst/>
          </a:prstGeom>
          <a:noFill/>
          <a:ln w="8890">
            <a:solidFill>
              <a:srgbClr val="E4DE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65105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DSY1107  ·  EVALUACIÓN PARCIAL N°4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9601200" y="65013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7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02:05  ·  04 / 12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6217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FRONTEND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896112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18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sesión OIDC habilita el flujo de compra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14813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frontend obtiene el token y consume los endpoints por el API Manager.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1993392"/>
            <a:ext cx="69037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0795">
            <a:solidFill>
              <a:srgbClr val="E4DED2"/>
            </a:solidFill>
            <a:prstDash val="solid"/>
          </a:ln>
        </p:spPr>
      </p:sp>
      <p:pic>
        <p:nvPicPr>
          <p:cNvPr id="11" name="Image 0" descr="/Users/nico/Desktop/proyectos/perfumeria-evaluacion/docs/rabbitmq/assets/catalogo-sin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529" y="2057400"/>
            <a:ext cx="6159398" cy="384962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22960" y="6025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 WEB EN HTTPS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21396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LOGIN A LA API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7973568" y="25603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366760" y="255117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Autenticación</a:t>
            </a:r>
            <a:endParaRPr lang="en-US" sz="112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28163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Entra ID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8366760" y="3127248"/>
            <a:ext cx="2971800" cy="0"/>
          </a:xfrm>
          <a:prstGeom prst="line">
            <a:avLst/>
          </a:prstGeom>
          <a:noFill/>
          <a:ln w="8890">
            <a:solidFill>
              <a:srgbClr val="E4DED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73568" y="32461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366760" y="323697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</a:t>
            </a:r>
            <a:endParaRPr lang="en-US" sz="1120" dirty="0"/>
          </a:p>
        </p:txBody>
      </p:sp>
      <p:sp>
        <p:nvSpPr>
          <p:cNvPr id="20" name="Text 17"/>
          <p:cNvSpPr txBox="1"/>
          <p:nvPr/>
        </p:nvSpPr>
        <p:spPr>
          <a:xfrm>
            <a:off x="8366760" y="35021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OAuth 2.0 + OpenID Connect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8366760" y="3813048"/>
            <a:ext cx="2971800" cy="0"/>
          </a:xfrm>
          <a:prstGeom prst="line">
            <a:avLst/>
          </a:prstGeom>
          <a:noFill/>
          <a:ln w="8890">
            <a:solidFill>
              <a:srgbClr val="E4DED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973568" y="3931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366760" y="392277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1120" dirty="0"/>
          </a:p>
        </p:txBody>
      </p:sp>
      <p:sp>
        <p:nvSpPr>
          <p:cNvPr id="24" name="Text 21"/>
          <p:cNvSpPr txBox="1"/>
          <p:nvPr/>
        </p:nvSpPr>
        <p:spPr>
          <a:xfrm>
            <a:off x="8366760" y="41879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MSAL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8366760" y="4498848"/>
            <a:ext cx="2971800" cy="0"/>
          </a:xfrm>
          <a:prstGeom prst="line">
            <a:avLst/>
          </a:prstGeom>
          <a:noFill/>
          <a:ln w="8890">
            <a:solidFill>
              <a:srgbClr val="E4DED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73568" y="46177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366760" y="460857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Scopes</a:t>
            </a:r>
            <a:endParaRPr lang="en-US" sz="1120" dirty="0"/>
          </a:p>
        </p:txBody>
      </p:sp>
      <p:sp>
        <p:nvSpPr>
          <p:cNvPr id="28" name="Text 25"/>
          <p:cNvSpPr txBox="1"/>
          <p:nvPr/>
        </p:nvSpPr>
        <p:spPr>
          <a:xfrm>
            <a:off x="8366760" y="48737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Catalog.Read · Orders.Create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7955280" y="5468112"/>
            <a:ext cx="3511296" cy="475488"/>
          </a:xfrm>
          <a:prstGeom prst="roundRect">
            <a:avLst>
              <a:gd name="adj" fmla="val 15385"/>
            </a:avLst>
          </a:prstGeom>
          <a:solidFill>
            <a:srgbClr val="E5EEE4"/>
          </a:solidFill>
          <a:ln w="12700">
            <a:solidFill>
              <a:srgbClr val="E5EEE4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38160" y="559612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spc="50" kern="0" dirty="0">
                <a:solidFill>
                  <a:srgbClr val="557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REAL  ·  CATÁLOGO CARGADO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652881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23774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PERFUMERIA  /  CLOUD NATIVE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37744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DESPLIEGUE CLOUD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1792" y="6419088"/>
            <a:ext cx="10945368" cy="0"/>
          </a:xfrm>
          <a:prstGeom prst="line">
            <a:avLst/>
          </a:prstGeom>
          <a:noFill/>
          <a:ln w="8890">
            <a:solidFill>
              <a:srgbClr val="E4DE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65105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DSY1107  ·  EVALUACIÓN PARCIAL N°4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9601200" y="65013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7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02:35  ·  05 / 12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6217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OPERACIÓN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896112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18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solución está desplegada e integrada en AWS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14813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HTTPS y servicios backend activos en la instancia EC2.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1993392"/>
            <a:ext cx="68122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0795">
            <a:solidFill>
              <a:srgbClr val="E4DED2"/>
            </a:solidFill>
            <a:prstDash val="solid"/>
          </a:ln>
        </p:spPr>
      </p:sp>
      <p:pic>
        <p:nvPicPr>
          <p:cNvPr id="11" name="Image 0" descr="/Users/nico/Desktop/proyectos/perfumeria-evaluacion/docs/evidence/rabbitmq/14-cloud-deploy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119" y="2057400"/>
            <a:ext cx="6036778" cy="403250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13816" y="6199632"/>
            <a:ext cx="6492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spc="5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DE SERVICIOS ACTIVOS Y RESPUESTA HTTP 200</a:t>
            </a:r>
            <a:endParaRPr lang="en-US" sz="770" dirty="0"/>
          </a:p>
        </p:txBody>
      </p:sp>
      <p:sp>
        <p:nvSpPr>
          <p:cNvPr id="13" name="Shape 10"/>
          <p:cNvSpPr/>
          <p:nvPr/>
        </p:nvSpPr>
        <p:spPr>
          <a:xfrm>
            <a:off x="7818120" y="2029968"/>
            <a:ext cx="1856232" cy="292608"/>
          </a:xfrm>
          <a:prstGeom prst="roundRect">
            <a:avLst>
              <a:gd name="adj" fmla="val 25000"/>
            </a:avLst>
          </a:prstGeom>
          <a:solidFill>
            <a:srgbClr val="E5EEE4"/>
          </a:solidFill>
          <a:ln w="12700">
            <a:solidFill>
              <a:srgbClr val="E5EEE4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18704" y="203911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557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PRODUCCIÓN · HTTPS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827264" y="2615184"/>
            <a:ext cx="3602736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0160">
            <a:solidFill>
              <a:srgbClr val="E4DED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10144" y="27066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8010144" y="292608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nginx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7827264" y="3419856"/>
            <a:ext cx="3602736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0160">
            <a:solidFill>
              <a:srgbClr val="E4DE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10144" y="35112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010144" y="373075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BFF · catálogo · pedidos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7827264" y="4224528"/>
            <a:ext cx="3602736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0160">
            <a:solidFill>
              <a:srgbClr val="E4DED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10144" y="431596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8010144" y="453542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shipping · Rabbit Admin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7818120" y="5230368"/>
            <a:ext cx="3602736" cy="694944"/>
          </a:xfrm>
          <a:prstGeom prst="roundRect">
            <a:avLst>
              <a:gd name="adj" fmla="val 10526"/>
            </a:avLst>
          </a:prstGeom>
          <a:solidFill>
            <a:srgbClr val="201E1A"/>
          </a:solidFill>
          <a:ln w="12700">
            <a:solidFill>
              <a:srgbClr val="201E1A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19288" y="5367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RabbitMQ no se expone a Internet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19288" y="566013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AD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AMQP y Management limitados a loopback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652881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23774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PERFUMERIA  /  CLOUD NATIVE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37744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ASÍNCRONO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1792" y="6419088"/>
            <a:ext cx="10945368" cy="0"/>
          </a:xfrm>
          <a:prstGeom prst="line">
            <a:avLst/>
          </a:prstGeom>
          <a:noFill/>
          <a:ln w="8890">
            <a:solidFill>
              <a:srgbClr val="E4DE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65105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DSY1107  ·  EVALUACIÓN PARCIAL N°4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9601200" y="65013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7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03:15  ·  06 / 12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6217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DEL PEDIDO AL EVENTO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896112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18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checkout publica; cada dominio resuelve su tarea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14813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trabajo secundario se procesa en paralelo y no se mezcla con la respuesta al cliente.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2029968"/>
            <a:ext cx="4645152" cy="3621024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0795">
            <a:solidFill>
              <a:srgbClr val="E4DED2"/>
            </a:solidFill>
            <a:prstDash val="solid"/>
          </a:ln>
        </p:spPr>
      </p:sp>
      <p:pic>
        <p:nvPicPr>
          <p:cNvPr id="11" name="Image 0" descr="/Users/nico/Desktop/proyectos/perfumeria-evaluacion/docs/rabbitmq/assets/checkout-sin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428875"/>
            <a:ext cx="4517136" cy="282321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22960" y="5733288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CHECKOUT  ·  CONFIRMAR Y PAGAR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715000" y="2048256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4DED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70448" y="2167128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10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PRODUCTOR</a:t>
            </a:r>
            <a:endParaRPr lang="en-US" sz="760" dirty="0"/>
          </a:p>
        </p:txBody>
      </p:sp>
      <p:sp>
        <p:nvSpPr>
          <p:cNvPr id="15" name="Text 12"/>
          <p:cNvSpPr txBox="1"/>
          <p:nvPr/>
        </p:nvSpPr>
        <p:spPr>
          <a:xfrm>
            <a:off x="5870448" y="2404872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service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870448" y="2761488"/>
            <a:ext cx="1517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 pedido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publica eventos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571232" y="2523744"/>
            <a:ext cx="411480" cy="0"/>
          </a:xfrm>
          <a:prstGeom prst="line">
            <a:avLst/>
          </a:prstGeom>
          <a:noFill/>
          <a:ln w="17780">
            <a:solidFill>
              <a:srgbClr val="B6935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010144" y="2048256"/>
            <a:ext cx="14447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4DE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65592" y="216712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100" kern="0" dirty="0">
                <a:solidFill>
                  <a:srgbClr val="4C68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</a:t>
            </a:r>
            <a:endParaRPr lang="en-US" sz="760" dirty="0"/>
          </a:p>
        </p:txBody>
      </p:sp>
      <p:sp>
        <p:nvSpPr>
          <p:cNvPr id="20" name="Text 17"/>
          <p:cNvSpPr txBox="1"/>
          <p:nvPr/>
        </p:nvSpPr>
        <p:spPr>
          <a:xfrm>
            <a:off x="8165592" y="2404872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RabbitMQ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165592" y="2761488"/>
            <a:ext cx="11338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Exchange + routing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482328" y="2523744"/>
            <a:ext cx="420624" cy="0"/>
          </a:xfrm>
          <a:prstGeom prst="line">
            <a:avLst/>
          </a:prstGeom>
          <a:noFill/>
          <a:ln w="17780">
            <a:solidFill>
              <a:srgbClr val="B6935B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939528" y="2048256"/>
            <a:ext cx="15361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4DED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94976" y="216712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100" kern="0" dirty="0">
                <a:solidFill>
                  <a:srgbClr val="557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CONSUMO</a:t>
            </a:r>
            <a:endParaRPr lang="en-US" sz="760" dirty="0"/>
          </a:p>
        </p:txBody>
      </p:sp>
      <p:sp>
        <p:nvSpPr>
          <p:cNvPr id="25" name="Text 22"/>
          <p:cNvSpPr txBox="1"/>
          <p:nvPr/>
        </p:nvSpPr>
        <p:spPr>
          <a:xfrm>
            <a:off x="10094976" y="2404872"/>
            <a:ext cx="12252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Listeners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0094976" y="2761488"/>
            <a:ext cx="1225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Procesan por dominio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715000" y="3401568"/>
            <a:ext cx="5760720" cy="594360"/>
          </a:xfrm>
          <a:prstGeom prst="roundRect">
            <a:avLst>
              <a:gd name="adj" fmla="val 12308"/>
            </a:avLst>
          </a:prstGeom>
          <a:solidFill>
            <a:srgbClr val="E8EEF2"/>
          </a:solidFill>
          <a:ln w="12700">
            <a:solidFill>
              <a:srgbClr val="E8EEF2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16168" y="34930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4C68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orders.created / orders.paid</a:t>
            </a:r>
            <a:endParaRPr lang="en-US" sz="910" dirty="0"/>
          </a:p>
        </p:txBody>
      </p:sp>
      <p:sp>
        <p:nvSpPr>
          <p:cNvPr id="29" name="Text 26"/>
          <p:cNvSpPr txBox="1"/>
          <p:nvPr/>
        </p:nvSpPr>
        <p:spPr>
          <a:xfrm>
            <a:off x="8567928" y="348386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9052560" y="349300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Notificación + documento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5715000" y="4151376"/>
            <a:ext cx="5760720" cy="594360"/>
          </a:xfrm>
          <a:prstGeom prst="roundRect">
            <a:avLst>
              <a:gd name="adj" fmla="val 12308"/>
            </a:avLst>
          </a:prstGeom>
          <a:solidFill>
            <a:srgbClr val="E5EEE4"/>
          </a:solidFill>
          <a:ln w="12700">
            <a:solidFill>
              <a:srgbClr val="E5EEE4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916168" y="42428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557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shipping.requested</a:t>
            </a:r>
            <a:endParaRPr lang="en-US" sz="910" dirty="0"/>
          </a:p>
        </p:txBody>
      </p:sp>
      <p:sp>
        <p:nvSpPr>
          <p:cNvPr id="33" name="Text 30"/>
          <p:cNvSpPr txBox="1"/>
          <p:nvPr/>
        </p:nvSpPr>
        <p:spPr>
          <a:xfrm>
            <a:off x="8567928" y="42336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9052560" y="424281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Solicitud de envío</a:t>
            </a:r>
            <a:endParaRPr lang="en-US" sz="920" dirty="0"/>
          </a:p>
        </p:txBody>
      </p:sp>
      <p:sp>
        <p:nvSpPr>
          <p:cNvPr id="35" name="Text 32"/>
          <p:cNvSpPr txBox="1"/>
          <p:nvPr/>
        </p:nvSpPr>
        <p:spPr>
          <a:xfrm>
            <a:off x="5733288" y="5276088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OrderEventPublisher  ·  OrderNotificationListener  ·  OrderDocumentListener  ·  ShipmentRequestedListener</a:t>
            </a:r>
            <a:endParaRPr lang="en-US" sz="830" dirty="0"/>
          </a:p>
        </p:txBody>
      </p:sp>
      <p:sp>
        <p:nvSpPr>
          <p:cNvPr id="36" name="Shape 33"/>
          <p:cNvSpPr/>
          <p:nvPr/>
        </p:nvSpPr>
        <p:spPr>
          <a:xfrm>
            <a:off x="5715000" y="5797296"/>
            <a:ext cx="3172968" cy="274320"/>
          </a:xfrm>
          <a:prstGeom prst="roundRect">
            <a:avLst>
              <a:gd name="adj" fmla="val 26667"/>
            </a:avLst>
          </a:prstGeom>
          <a:solidFill>
            <a:srgbClr val="E9DFC9"/>
          </a:solidFill>
          <a:ln w="12700">
            <a:solidFill>
              <a:srgbClr val="E9DFC9">
                <a:alpha val="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815584" y="58064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spc="50" kern="0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CONSUMIDORES AGRUPADOS POR DOMINIO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652881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23774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PERFUMERIA  /  CLOUD NATIVE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37744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TOPOLOGÍA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1792" y="6419088"/>
            <a:ext cx="10945368" cy="0"/>
          </a:xfrm>
          <a:prstGeom prst="line">
            <a:avLst/>
          </a:prstGeom>
          <a:noFill/>
          <a:ln w="8890">
            <a:solidFill>
              <a:srgbClr val="E4DE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65105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DSY1107  ·  EVALUACIÓN PARCIAL N°4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9601200" y="65013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7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03:55  ·  07 / 12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6217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RUTEO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896112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18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estrategias de routing para dos tipos de evento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14813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Bindings explícitos: el exchange decide qué consumidor recibe cada mensaje.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15000" y="1975104"/>
            <a:ext cx="58064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0795">
            <a:solidFill>
              <a:srgbClr val="E4DED2"/>
            </a:solidFill>
            <a:prstDash val="solid"/>
          </a:ln>
        </p:spPr>
      </p:sp>
      <p:pic>
        <p:nvPicPr>
          <p:cNvPr id="11" name="Image 0" descr="/Users/nico/Desktop/proyectos/perfumeria-evaluacion/docs/evidence/rabbitmq/05-exchanges-bind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2083689"/>
            <a:ext cx="5678424" cy="394335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58368" y="2011680"/>
            <a:ext cx="4617720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E4DED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2221992"/>
            <a:ext cx="859536" cy="292608"/>
          </a:xfrm>
          <a:prstGeom prst="roundRect">
            <a:avLst>
              <a:gd name="adj" fmla="val 25000"/>
            </a:avLst>
          </a:prstGeom>
          <a:solidFill>
            <a:srgbClr val="E8EEF2"/>
          </a:solidFill>
          <a:ln w="12700">
            <a:solidFill>
              <a:srgbClr val="E8EEF2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78408" y="22311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4C68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883664" y="22219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perfumeria.orders.topic</a:t>
            </a:r>
            <a:endParaRPr lang="en-US" sz="1130" dirty="0"/>
          </a:p>
        </p:txBody>
      </p:sp>
      <p:sp>
        <p:nvSpPr>
          <p:cNvPr id="16" name="Text 13"/>
          <p:cNvSpPr txBox="1"/>
          <p:nvPr/>
        </p:nvSpPr>
        <p:spPr>
          <a:xfrm>
            <a:off x="886968" y="2734056"/>
            <a:ext cx="4142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orders.* → notificaciones   ·   orders.paid → documentos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658368" y="3675888"/>
            <a:ext cx="46177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E4DED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77824" y="3886200"/>
            <a:ext cx="859536" cy="292608"/>
          </a:xfrm>
          <a:prstGeom prst="roundRect">
            <a:avLst>
              <a:gd name="adj" fmla="val 25000"/>
            </a:avLst>
          </a:prstGeom>
          <a:solidFill>
            <a:srgbClr val="E5EEE4"/>
          </a:solidFill>
          <a:ln w="12700">
            <a:solidFill>
              <a:srgbClr val="E5EEE4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78408" y="3895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57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883664" y="3886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perfumeria.shipping.direct</a:t>
            </a:r>
            <a:endParaRPr lang="en-US" sz="1110" dirty="0"/>
          </a:p>
        </p:txBody>
      </p:sp>
      <p:sp>
        <p:nvSpPr>
          <p:cNvPr id="21" name="Text 18"/>
          <p:cNvSpPr txBox="1"/>
          <p:nvPr/>
        </p:nvSpPr>
        <p:spPr>
          <a:xfrm>
            <a:off x="886968" y="4379976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shipping.requested → solicitudes de envío</a:t>
            </a:r>
            <a:endParaRPr lang="en-US" sz="1030" dirty="0"/>
          </a:p>
        </p:txBody>
      </p:sp>
      <p:sp>
        <p:nvSpPr>
          <p:cNvPr id="22" name="Shape 19"/>
          <p:cNvSpPr/>
          <p:nvPr/>
        </p:nvSpPr>
        <p:spPr>
          <a:xfrm>
            <a:off x="658368" y="5166360"/>
            <a:ext cx="4617720" cy="731520"/>
          </a:xfrm>
          <a:prstGeom prst="roundRect">
            <a:avLst>
              <a:gd name="adj" fmla="val 10000"/>
            </a:avLst>
          </a:prstGeom>
          <a:solidFill>
            <a:srgbClr val="201E1A"/>
          </a:solidFill>
          <a:ln w="12700">
            <a:solidFill>
              <a:srgbClr val="201E1A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96112" y="53218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DLX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463040" y="5303520"/>
            <a:ext cx="3547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perfumeria.dead-letter.direct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96112" y="5623560"/>
            <a:ext cx="4087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DAD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Mensajes rechazados → cola de errores del dominio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652881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23774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PERFUMERIA  /  CLOUD NATIVE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37744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COLAS DURABLES Y DLQ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1792" y="6419088"/>
            <a:ext cx="10945368" cy="0"/>
          </a:xfrm>
          <a:prstGeom prst="line">
            <a:avLst/>
          </a:prstGeom>
          <a:noFill/>
          <a:ln w="8890">
            <a:solidFill>
              <a:srgbClr val="E4DE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65105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DSY1107  ·  EVALUACIÓN PARCIAL N°4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9601200" y="65013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7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04:25  ·  08 / 12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6217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PERSISTENCIA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896112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18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caso de uso tiene su cola y su DLQ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14813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Seis colas visibles en RabbitMQ Management: tres de trabajo y tres de fallos.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1984248"/>
            <a:ext cx="6601968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0795">
            <a:solidFill>
              <a:srgbClr val="E4DED2"/>
            </a:solidFill>
            <a:prstDash val="solid"/>
          </a:ln>
        </p:spPr>
      </p:sp>
      <p:pic>
        <p:nvPicPr>
          <p:cNvPr id="11" name="Image 0" descr="/Users/nico/Desktop/proyectos/perfumeria-evaluacion/docs/evidence/rabbitmq/06-queues-dl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868" y="2048256"/>
            <a:ext cx="5740969" cy="398678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635240" y="20848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FLUJOS  /  3 DLQ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626096" y="2542032"/>
            <a:ext cx="3877056" cy="722376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0160">
            <a:solidFill>
              <a:srgbClr val="E4DED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63256" y="2706624"/>
            <a:ext cx="73152" cy="393192"/>
          </a:xfrm>
          <a:prstGeom prst="roundRect">
            <a:avLst>
              <a:gd name="adj" fmla="val 100000"/>
            </a:avLst>
          </a:prstGeom>
          <a:solidFill>
            <a:srgbClr val="4C687D"/>
          </a:solidFill>
          <a:ln w="12700">
            <a:solidFill>
              <a:srgbClr val="4C687D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82712" y="2651760"/>
            <a:ext cx="3264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orders.notifications</a:t>
            </a:r>
            <a:endParaRPr lang="en-US" sz="930" dirty="0"/>
          </a:p>
        </p:txBody>
      </p:sp>
      <p:sp>
        <p:nvSpPr>
          <p:cNvPr id="16" name="Text 13"/>
          <p:cNvSpPr txBox="1"/>
          <p:nvPr/>
        </p:nvSpPr>
        <p:spPr>
          <a:xfrm>
            <a:off x="7982712" y="293522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4C68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 DLQ</a:t>
            </a:r>
            <a:endParaRPr lang="en-US" sz="820" dirty="0"/>
          </a:p>
        </p:txBody>
      </p:sp>
      <p:sp>
        <p:nvSpPr>
          <p:cNvPr id="17" name="Text 14"/>
          <p:cNvSpPr txBox="1"/>
          <p:nvPr/>
        </p:nvSpPr>
        <p:spPr>
          <a:xfrm>
            <a:off x="8714232" y="293522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orders.notifications.dlq</a:t>
            </a:r>
            <a:endParaRPr lang="en-US" sz="810" dirty="0"/>
          </a:p>
        </p:txBody>
      </p:sp>
      <p:sp>
        <p:nvSpPr>
          <p:cNvPr id="18" name="Shape 15"/>
          <p:cNvSpPr/>
          <p:nvPr/>
        </p:nvSpPr>
        <p:spPr>
          <a:xfrm>
            <a:off x="7626096" y="3474720"/>
            <a:ext cx="3877056" cy="722376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0160">
            <a:solidFill>
              <a:srgbClr val="E4DED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63256" y="3639312"/>
            <a:ext cx="73152" cy="393192"/>
          </a:xfrm>
          <a:prstGeom prst="roundRect">
            <a:avLst>
              <a:gd name="adj" fmla="val 100000"/>
            </a:avLst>
          </a:prstGeom>
          <a:solidFill>
            <a:srgbClr val="B6935B"/>
          </a:solidFill>
          <a:ln w="12700">
            <a:solidFill>
              <a:srgbClr val="B6935B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82712" y="3584448"/>
            <a:ext cx="3264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orders.documents</a:t>
            </a:r>
            <a:endParaRPr lang="en-US" sz="930" dirty="0"/>
          </a:p>
        </p:txBody>
      </p:sp>
      <p:sp>
        <p:nvSpPr>
          <p:cNvPr id="21" name="Text 18"/>
          <p:cNvSpPr txBox="1"/>
          <p:nvPr/>
        </p:nvSpPr>
        <p:spPr>
          <a:xfrm>
            <a:off x="7982712" y="386791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 DLQ</a:t>
            </a:r>
            <a:endParaRPr lang="en-US" sz="820" dirty="0"/>
          </a:p>
        </p:txBody>
      </p:sp>
      <p:sp>
        <p:nvSpPr>
          <p:cNvPr id="22" name="Text 19"/>
          <p:cNvSpPr txBox="1"/>
          <p:nvPr/>
        </p:nvSpPr>
        <p:spPr>
          <a:xfrm>
            <a:off x="8714232" y="38679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orders.documents.dlq</a:t>
            </a:r>
            <a:endParaRPr lang="en-US" sz="810" dirty="0"/>
          </a:p>
        </p:txBody>
      </p:sp>
      <p:sp>
        <p:nvSpPr>
          <p:cNvPr id="23" name="Shape 20"/>
          <p:cNvSpPr/>
          <p:nvPr/>
        </p:nvSpPr>
        <p:spPr>
          <a:xfrm>
            <a:off x="7626096" y="4407408"/>
            <a:ext cx="3877056" cy="722376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0160">
            <a:solidFill>
              <a:srgbClr val="E4DED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63256" y="4572000"/>
            <a:ext cx="73152" cy="393192"/>
          </a:xfrm>
          <a:prstGeom prst="roundRect">
            <a:avLst>
              <a:gd name="adj" fmla="val 100000"/>
            </a:avLst>
          </a:prstGeom>
          <a:solidFill>
            <a:srgbClr val="55745A"/>
          </a:solidFill>
          <a:ln w="12700">
            <a:solidFill>
              <a:srgbClr val="55745A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82712" y="4517136"/>
            <a:ext cx="3264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shipping.requests</a:t>
            </a:r>
            <a:endParaRPr lang="en-US" sz="930" dirty="0"/>
          </a:p>
        </p:txBody>
      </p:sp>
      <p:sp>
        <p:nvSpPr>
          <p:cNvPr id="26" name="Text 23"/>
          <p:cNvSpPr txBox="1"/>
          <p:nvPr/>
        </p:nvSpPr>
        <p:spPr>
          <a:xfrm>
            <a:off x="7982712" y="480060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557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 DLQ</a:t>
            </a:r>
            <a:endParaRPr lang="en-US" sz="820" dirty="0"/>
          </a:p>
        </p:txBody>
      </p:sp>
      <p:sp>
        <p:nvSpPr>
          <p:cNvPr id="27" name="Text 24"/>
          <p:cNvSpPr txBox="1"/>
          <p:nvPr/>
        </p:nvSpPr>
        <p:spPr>
          <a:xfrm>
            <a:off x="8714232" y="48006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shipping.requests.dlq</a:t>
            </a:r>
            <a:endParaRPr lang="en-US" sz="810" dirty="0"/>
          </a:p>
        </p:txBody>
      </p:sp>
      <p:sp>
        <p:nvSpPr>
          <p:cNvPr id="28" name="Shape 25"/>
          <p:cNvSpPr/>
          <p:nvPr/>
        </p:nvSpPr>
        <p:spPr>
          <a:xfrm>
            <a:off x="7626096" y="5486400"/>
            <a:ext cx="3877056" cy="521208"/>
          </a:xfrm>
          <a:prstGeom prst="roundRect">
            <a:avLst>
              <a:gd name="adj" fmla="val 14035"/>
            </a:avLst>
          </a:prstGeom>
          <a:solidFill>
            <a:srgbClr val="E9DFC9"/>
          </a:solidFill>
          <a:ln w="12700">
            <a:solidFill>
              <a:srgbClr val="E9DFC9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818120" y="5641848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40" kern="0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DURABLES  ·  DEAD-LETTER EXCHANGE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652881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23774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PERFUMERIA  /  CLOUD NATIVE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37744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CLÚSTER EN LA NUBE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1792" y="6419088"/>
            <a:ext cx="10945368" cy="0"/>
          </a:xfrm>
          <a:prstGeom prst="line">
            <a:avLst/>
          </a:prstGeom>
          <a:noFill/>
          <a:ln w="8890">
            <a:solidFill>
              <a:srgbClr val="E4DE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65105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DSY1107  ·  EVALUACIÓN PARCIAL N°4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9601200" y="65013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7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05:00  ·  09 / 12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6217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INFRAESTRUCTURA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896112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18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nodos unidos; un solo clúster operativo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14813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contenedores se levantan con Docker Compose en la EC2 de AWS.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1993392"/>
            <a:ext cx="653796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0795">
            <a:solidFill>
              <a:srgbClr val="E4DED2"/>
            </a:solidFill>
            <a:prstDash val="solid"/>
          </a:ln>
        </p:spPr>
      </p:sp>
      <p:pic>
        <p:nvPicPr>
          <p:cNvPr id="11" name="Image 0" descr="/Users/nico/Desktop/proyectos/perfumeria-evaluacion/docs/evidence/rabbitmq/01-compose-contain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666" y="2057400"/>
            <a:ext cx="6205364" cy="384962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32104" y="601675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ps  ·  ambos nodos healthy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479792" y="1993392"/>
            <a:ext cx="4041648" cy="2715768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0795">
            <a:solidFill>
              <a:srgbClr val="E4DED2"/>
            </a:solidFill>
            <a:prstDash val="solid"/>
          </a:ln>
        </p:spPr>
      </p:sp>
      <p:pic>
        <p:nvPicPr>
          <p:cNvPr id="14" name="Image 1" descr="/Users/nico/Desktop/proyectos/perfumeria-evaluacion/docs/rabbitmq/assets/cluster-status-resum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2057400"/>
            <a:ext cx="2587752" cy="258775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479792" y="4892040"/>
            <a:ext cx="4041648" cy="1078992"/>
          </a:xfrm>
          <a:prstGeom prst="roundRect">
            <a:avLst>
              <a:gd name="adj" fmla="val 6780"/>
            </a:avLst>
          </a:prstGeom>
          <a:solidFill>
            <a:srgbClr val="201E1A"/>
          </a:solidFill>
          <a:ln w="12700">
            <a:solidFill>
              <a:srgbClr val="201E1A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699248" y="506577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F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rabbit@rabbitmq1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7699248" y="535838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F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rabbit@rabbitmq2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680960" y="5650992"/>
            <a:ext cx="2212848" cy="237744"/>
          </a:xfrm>
          <a:prstGeom prst="roundRect">
            <a:avLst>
              <a:gd name="adj" fmla="val 30769"/>
            </a:avLst>
          </a:prstGeom>
          <a:solidFill>
            <a:srgbClr val="354237"/>
          </a:solidFill>
          <a:ln w="12700">
            <a:solidFill>
              <a:srgbClr val="354237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781544" y="5660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50" kern="0" dirty="0">
                <a:solidFill>
                  <a:srgbClr val="D6E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RUNNING  ·  NO ALARMS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652881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23774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PERFUMERIA  /  CLOUD NATIVE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37744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CONFIRMACIÓN Y ERRORES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1792" y="6419088"/>
            <a:ext cx="10945368" cy="0"/>
          </a:xfrm>
          <a:prstGeom prst="line">
            <a:avLst/>
          </a:prstGeom>
          <a:noFill/>
          <a:ln w="8890">
            <a:solidFill>
              <a:srgbClr val="E4DE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65105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DSY1107  ·  EVALUACIÓN PARCIAL N°4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9601200" y="65013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7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05:40  ·  10 / 12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6217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RESILIENCIA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896112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18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ACK llega después del procesamiento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14813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errores recuperables se reintentan; los mensajes inválidos terminan aislados en DLQ.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1993392"/>
            <a:ext cx="612648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0795">
            <a:solidFill>
              <a:srgbClr val="E4DED2"/>
            </a:solidFill>
            <a:prstDash val="solid"/>
          </a:ln>
        </p:spPr>
      </p:sp>
      <p:pic>
        <p:nvPicPr>
          <p:cNvPr id="11" name="Image 0" descr="/Users/nico/Desktop/proyectos/perfumeria-evaluacion/docs/evidence/rabbitmq/10-async-consum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927" y="2057400"/>
            <a:ext cx="5041361" cy="394106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150608" y="202996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POR RESULTADO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150608" y="2450592"/>
            <a:ext cx="4343400" cy="557784"/>
          </a:xfrm>
          <a:prstGeom prst="roundRect">
            <a:avLst>
              <a:gd name="adj" fmla="val 13115"/>
            </a:avLst>
          </a:prstGeom>
          <a:solidFill>
            <a:srgbClr val="E5EEE4"/>
          </a:solidFill>
          <a:ln w="12700">
            <a:solidFill>
              <a:srgbClr val="E5EEE4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33488" y="25237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557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PROCESADO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7333488" y="2734056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ACK manual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50608" y="3163824"/>
            <a:ext cx="4343400" cy="557784"/>
          </a:xfrm>
          <a:prstGeom prst="roundRect">
            <a:avLst>
              <a:gd name="adj" fmla="val 13115"/>
            </a:avLst>
          </a:prstGeom>
          <a:solidFill>
            <a:srgbClr val="E8EEF2"/>
          </a:solidFill>
          <a:ln w="12700">
            <a:solidFill>
              <a:srgbClr val="E8EEF2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33488" y="32369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4C68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TRANSITORIO</a:t>
            </a:r>
            <a:endParaRPr lang="en-US" sz="750" dirty="0"/>
          </a:p>
        </p:txBody>
      </p:sp>
      <p:sp>
        <p:nvSpPr>
          <p:cNvPr id="18" name="Text 15"/>
          <p:cNvSpPr txBox="1"/>
          <p:nvPr/>
        </p:nvSpPr>
        <p:spPr>
          <a:xfrm>
            <a:off x="7333488" y="3447288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Hasta 3 intentos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150608" y="3877056"/>
            <a:ext cx="4343400" cy="557784"/>
          </a:xfrm>
          <a:prstGeom prst="roundRect">
            <a:avLst>
              <a:gd name="adj" fmla="val 13115"/>
            </a:avLst>
          </a:prstGeom>
          <a:solidFill>
            <a:srgbClr val="F4E8E5"/>
          </a:solidFill>
          <a:ln w="12700">
            <a:solidFill>
              <a:srgbClr val="F4E8E5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33488" y="39502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9D5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INVÁLIDO / AGOTADO</a:t>
            </a:r>
            <a:endParaRPr lang="en-US" sz="750" dirty="0"/>
          </a:p>
        </p:txBody>
      </p:sp>
      <p:sp>
        <p:nvSpPr>
          <p:cNvPr id="21" name="Text 18"/>
          <p:cNvSpPr txBox="1"/>
          <p:nvPr/>
        </p:nvSpPr>
        <p:spPr>
          <a:xfrm>
            <a:off x="7333488" y="4160520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NACK sin requeue → DLQ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150608" y="4736592"/>
            <a:ext cx="43434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795">
            <a:solidFill>
              <a:srgbClr val="E4DED2"/>
            </a:solidFill>
            <a:prstDash val="solid"/>
          </a:ln>
        </p:spPr>
      </p:sp>
      <p:pic>
        <p:nvPicPr>
          <p:cNvPr id="23" name="Image 1" descr="/Users/nico/Desktop/proyectos/perfumeria-evaluacion/docs/evidence/rabbitmq/11-dlq-err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932" y="4800600"/>
            <a:ext cx="1632753" cy="1133856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260336" y="6044184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35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DE PRUEBA CONTROLADO EN LA DLQ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652881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23774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PERFUMERIA  /  CLOUD NATIVE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37744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ADMINISTRACIÓN Y DISEÑO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1792" y="6419088"/>
            <a:ext cx="10945368" cy="0"/>
          </a:xfrm>
          <a:prstGeom prst="line">
            <a:avLst/>
          </a:prstGeom>
          <a:noFill/>
          <a:ln w="8890">
            <a:solidFill>
              <a:srgbClr val="E4DE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65105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DSY1107  ·  EVALUACIÓN PARCIAL N°4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9601200" y="65013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70" kern="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06:20  ·  11 / 12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6217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ADMINISTRACIÓN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896112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18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Gestión RabbitMQ con responsabilidades separadas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14813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4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REST validada; el controlador delega en RabbitAdminService.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1975104"/>
            <a:ext cx="5715000" cy="4169664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0795">
            <a:solidFill>
              <a:srgbClr val="E4DED2"/>
            </a:solidFill>
            <a:prstDash val="solid"/>
          </a:ln>
        </p:spPr>
      </p:sp>
      <p:pic>
        <p:nvPicPr>
          <p:cNvPr id="11" name="Image 0" descr="/Users/nico/Desktop/proyectos/perfumeria-evaluacion/docs/evidence/rabbitmq/12-rabbit-admin-a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5555" y="2039112"/>
            <a:ext cx="4640626" cy="404164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784848" y="201168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75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REST</a:t>
            </a:r>
            <a:endParaRPr lang="en-US" sz="810" dirty="0"/>
          </a:p>
        </p:txBody>
      </p:sp>
      <p:sp>
        <p:nvSpPr>
          <p:cNvPr id="13" name="Text 10"/>
          <p:cNvSpPr txBox="1"/>
          <p:nvPr/>
        </p:nvSpPr>
        <p:spPr>
          <a:xfrm>
            <a:off x="6784848" y="2249424"/>
            <a:ext cx="4590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/queues · /exchanges · /bindings</a:t>
            </a:r>
            <a:endParaRPr lang="en-US" sz="1040" dirty="0"/>
          </a:p>
        </p:txBody>
      </p:sp>
      <p:sp>
        <p:nvSpPr>
          <p:cNvPr id="14" name="Shape 11"/>
          <p:cNvSpPr/>
          <p:nvPr/>
        </p:nvSpPr>
        <p:spPr>
          <a:xfrm>
            <a:off x="6784848" y="2624328"/>
            <a:ext cx="4626864" cy="0"/>
          </a:xfrm>
          <a:prstGeom prst="line">
            <a:avLst/>
          </a:prstGeom>
          <a:noFill/>
          <a:ln w="8890">
            <a:solidFill>
              <a:srgbClr val="E4DED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84848" y="27249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75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</a:t>
            </a:r>
            <a:endParaRPr lang="en-US" sz="810" dirty="0"/>
          </a:p>
        </p:txBody>
      </p:sp>
      <p:sp>
        <p:nvSpPr>
          <p:cNvPr id="16" name="Text 13"/>
          <p:cNvSpPr txBox="1"/>
          <p:nvPr/>
        </p:nvSpPr>
        <p:spPr>
          <a:xfrm>
            <a:off x="6784848" y="2962656"/>
            <a:ext cx="4590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RabbitAdminService encapsula AmqpAdmin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6784848" y="3337560"/>
            <a:ext cx="4626864" cy="0"/>
          </a:xfrm>
          <a:prstGeom prst="line">
            <a:avLst/>
          </a:prstGeom>
          <a:noFill/>
          <a:ln w="8890">
            <a:solidFill>
              <a:srgbClr val="E4DED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84848" y="34381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75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810" dirty="0"/>
          </a:p>
        </p:txBody>
      </p:sp>
      <p:sp>
        <p:nvSpPr>
          <p:cNvPr id="19" name="Text 16"/>
          <p:cNvSpPr txBox="1"/>
          <p:nvPr/>
        </p:nvSpPr>
        <p:spPr>
          <a:xfrm>
            <a:off x="6784848" y="3675888"/>
            <a:ext cx="4590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DTO + Bean Validation → 400 claro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6784848" y="4050792"/>
            <a:ext cx="4626864" cy="0"/>
          </a:xfrm>
          <a:prstGeom prst="line">
            <a:avLst/>
          </a:prstGeom>
          <a:noFill/>
          <a:ln w="8890">
            <a:solidFill>
              <a:srgbClr val="E4DED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784848" y="41513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75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810" dirty="0"/>
          </a:p>
        </p:txBody>
      </p:sp>
      <p:sp>
        <p:nvSpPr>
          <p:cNvPr id="22" name="Text 19"/>
          <p:cNvSpPr txBox="1"/>
          <p:nvPr/>
        </p:nvSpPr>
        <p:spPr>
          <a:xfrm>
            <a:off x="6784848" y="4389120"/>
            <a:ext cx="4590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9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Admin.Read exigido en la ruta protegida</a:t>
            </a:r>
            <a:endParaRPr lang="en-US" sz="1040" dirty="0"/>
          </a:p>
        </p:txBody>
      </p:sp>
      <p:sp>
        <p:nvSpPr>
          <p:cNvPr id="23" name="Shape 20"/>
          <p:cNvSpPr/>
          <p:nvPr/>
        </p:nvSpPr>
        <p:spPr>
          <a:xfrm>
            <a:off x="6784848" y="5138928"/>
            <a:ext cx="4590288" cy="841248"/>
          </a:xfrm>
          <a:prstGeom prst="roundRect">
            <a:avLst>
              <a:gd name="adj" fmla="val 8696"/>
            </a:avLst>
          </a:prstGeom>
          <a:solidFill>
            <a:srgbClr val="201E1A"/>
          </a:solidFill>
          <a:ln w="12700">
            <a:solidFill>
              <a:srgbClr val="201E1A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013448" y="5303520"/>
            <a:ext cx="4178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 creado   ·   204 eliminado   ·   400 inválido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013448" y="5632704"/>
            <a:ext cx="4178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AD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Controlador fino  /  servicio dedicado  /  entrada validada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652881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01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>
              <a:gd name="adj" fmla="val 80000"/>
            </a:avLst>
          </a:prstGeom>
          <a:solidFill>
            <a:srgbClr val="B6935B"/>
          </a:solidFill>
          <a:ln w="12700">
            <a:solidFill>
              <a:srgbClr val="B6935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23774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DAD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PERFUMERIA  /  CLOUD NATIVE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237744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DAD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21792" y="6419088"/>
            <a:ext cx="10945368" cy="0"/>
          </a:xfrm>
          <a:prstGeom prst="line">
            <a:avLst/>
          </a:prstGeom>
          <a:noFill/>
          <a:ln w="8890">
            <a:solidFill>
              <a:srgbClr val="514A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5105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DAD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DSY1107  ·  EVALUACIÓN PARCIAL N°4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9601200" y="65013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70" kern="0" dirty="0">
                <a:solidFill>
                  <a:srgbClr val="DAD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06:45  ·  12 / 12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7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1207008"/>
            <a:ext cx="81381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8F5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pedido avanza.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8F5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experiencia no espera.</a:t>
            </a:r>
            <a:endParaRPr lang="en-US" sz="3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8529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AD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extremo a extremo en la nube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858768"/>
            <a:ext cx="3438144" cy="1243584"/>
          </a:xfrm>
          <a:prstGeom prst="roundRect">
            <a:avLst>
              <a:gd name="adj" fmla="val 5882"/>
            </a:avLst>
          </a:prstGeom>
          <a:solidFill>
            <a:srgbClr val="2B2823"/>
          </a:solidFill>
          <a:ln w="10160">
            <a:solidFill>
              <a:srgbClr val="514A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4041648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4315968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5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471830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US$125.50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62272" y="3858768"/>
            <a:ext cx="3438144" cy="1243584"/>
          </a:xfrm>
          <a:prstGeom prst="roundRect">
            <a:avLst>
              <a:gd name="adj" fmla="val 5882"/>
            </a:avLst>
          </a:prstGeom>
          <a:solidFill>
            <a:srgbClr val="2B2823"/>
          </a:solidFill>
          <a:ln w="10160">
            <a:solidFill>
              <a:srgbClr val="514A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4041648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8AA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4315968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5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publicados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71830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aviso · documento · envío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93024" y="3858768"/>
            <a:ext cx="3438144" cy="1243584"/>
          </a:xfrm>
          <a:prstGeom prst="roundRect">
            <a:avLst>
              <a:gd name="adj" fmla="val 5882"/>
            </a:avLst>
          </a:prstGeom>
          <a:solidFill>
            <a:srgbClr val="2B2823"/>
          </a:solidFill>
          <a:ln w="10160">
            <a:solidFill>
              <a:srgbClr val="514A3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94192" y="4041648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98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FALLO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394192" y="4315968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5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Aislado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394192" y="471830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inválido → DLQ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55961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40" kern="0" dirty="0">
                <a:solidFill>
                  <a:srgbClr val="B69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Desacoplamiento  ·  seguridad JWT  ·  reintentos  ·  DLQ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601200" y="556869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8F5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DSY1107 Desarrollo Cloud Native 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PerfumerIA — Mensajería asíncrona con RabbitMQ</dc:title>
  <dc:subject>Evaluación Parcial N°4 — RabbitMQ</dc:subject>
  <dc:creator>PerfumerIA</dc:creator>
  <cp:lastModifiedBy>PerfumerIA</cp:lastModifiedBy>
  <cp:revision>1</cp:revision>
  <dcterms:created xsi:type="dcterms:W3CDTF">2026-10-17T06:46:11Z</dcterms:created>
  <dcterms:modified xsi:type="dcterms:W3CDTF">2026-10-17T06:46:11Z</dcterms:modified>
</cp:coreProperties>
</file>